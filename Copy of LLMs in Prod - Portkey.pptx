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Oswald Medium"/>
      <p:regular r:id="rId39"/>
      <p:bold r:id="rId40"/>
    </p:embeddedFont>
    <p:embeddedFont>
      <p:font typeface="Outfit Light"/>
      <p:regular r:id="rId41"/>
      <p:bold r:id="rId42"/>
    </p:embeddedFont>
    <p:embeddedFont>
      <p:font typeface="Outfit"/>
      <p:regular r:id="rId43"/>
      <p:bold r:id="rId44"/>
    </p:embeddedFont>
    <p:embeddedFont>
      <p:font typeface="Outfit Medium"/>
      <p:regular r:id="rId45"/>
      <p:bold r:id="rId46"/>
    </p:embeddedFont>
    <p:embeddedFont>
      <p:font typeface="Inter Tight"/>
      <p:regular r:id="rId47"/>
      <p:bold r:id="rId48"/>
      <p:italic r:id="rId49"/>
      <p:boldItalic r:id="rId50"/>
    </p:embeddedFont>
    <p:embeddedFont>
      <p:font typeface="Oswald"/>
      <p:regular r:id="rId51"/>
      <p:bold r:id="rId52"/>
    </p:embeddedFont>
    <p:embeddedFont>
      <p:font typeface="Inter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Medium-bold.fntdata"/><Relationship Id="rId42" Type="http://schemas.openxmlformats.org/officeDocument/2006/relationships/font" Target="fonts/OutfitLight-bold.fntdata"/><Relationship Id="rId41" Type="http://schemas.openxmlformats.org/officeDocument/2006/relationships/font" Target="fonts/OutfitLight-regular.fntdata"/><Relationship Id="rId44" Type="http://schemas.openxmlformats.org/officeDocument/2006/relationships/font" Target="fonts/Outfit-bold.fntdata"/><Relationship Id="rId43" Type="http://schemas.openxmlformats.org/officeDocument/2006/relationships/font" Target="fonts/Outfit-regular.fntdata"/><Relationship Id="rId46" Type="http://schemas.openxmlformats.org/officeDocument/2006/relationships/font" Target="fonts/OutfitMedium-bold.fntdata"/><Relationship Id="rId45" Type="http://schemas.openxmlformats.org/officeDocument/2006/relationships/font" Target="fonts/Outfi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Tight-bold.fntdata"/><Relationship Id="rId47" Type="http://schemas.openxmlformats.org/officeDocument/2006/relationships/font" Target="fonts/InterTight-regular.fntdata"/><Relationship Id="rId49" Type="http://schemas.openxmlformats.org/officeDocument/2006/relationships/font" Target="fonts/InterT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OswaldMedium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swald-regular.fntdata"/><Relationship Id="rId50" Type="http://schemas.openxmlformats.org/officeDocument/2006/relationships/font" Target="fonts/InterTight-boldItalic.fntdata"/><Relationship Id="rId53" Type="http://schemas.openxmlformats.org/officeDocument/2006/relationships/font" Target="fonts/InterMedium-regular.fntdata"/><Relationship Id="rId52" Type="http://schemas.openxmlformats.org/officeDocument/2006/relationships/font" Target="fonts/Oswald-bold.fntdata"/><Relationship Id="rId11" Type="http://schemas.openxmlformats.org/officeDocument/2006/relationships/slide" Target="slides/slide6.xml"/><Relationship Id="rId55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54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39c83215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39c83215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f78e85c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f78e85c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8936c2d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e8936c2d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8936c2d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e8936c2d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8936c2de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8936c2de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8936c2d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e8936c2d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8936c2de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e8936c2de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8936c2de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e8936c2de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f7291ae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cf7291a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f7291ae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cf7291ae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f7291ae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cf7291ae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f7291aef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cf7291aef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f7291aef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cf7291aef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f7291aef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cf7291aef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f7291aef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2cf7291aef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f7291aef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cf7291aef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f7291aef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cf7291aef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f78e85c9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f78e85c9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39c8321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2739c8321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39c8321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2739c8321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39c8321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2739c8321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39c83215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2739c83215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dc6cec4322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dc6cec432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c6cec432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c6cec43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c6cec432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c6cec432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c6cec432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dc6cec432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c6cec432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dc6cec432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c6cec432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dc6cec432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80cc5e9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2e80cc5e9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c6cec432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dc6cec432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c6cec432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dc6cec432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dc6cec4322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dc6cec432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713525" y="161825"/>
            <a:ext cx="241200" cy="114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1F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t/>
            </a:r>
            <a:endParaRPr b="0" i="0" sz="55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emplate 1 1">
  <p:cSld name="TITLE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8713525" y="161825"/>
            <a:ext cx="241200" cy="114000"/>
          </a:xfrm>
          <a:prstGeom prst="roundRect">
            <a:avLst>
              <a:gd fmla="val 50000" name="adj"/>
            </a:avLst>
          </a:prstGeom>
          <a:solidFill>
            <a:srgbClr val="F1F0ED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t/>
            </a:r>
            <a:endParaRPr b="0" i="0" sz="55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emplate 1 2">
  <p:cSld name="TITLE_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8713525" y="161825"/>
            <a:ext cx="241200" cy="114000"/>
          </a:xfrm>
          <a:prstGeom prst="roundRect">
            <a:avLst>
              <a:gd fmla="val 50000" name="adj"/>
            </a:avLst>
          </a:prstGeom>
          <a:solidFill>
            <a:srgbClr val="F1F0ED"/>
          </a:solidFill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t/>
            </a:r>
            <a:endParaRPr b="0" i="0" sz="55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222222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 1">
  <p:cSld name="TITLE_AND_BODY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8713525" y="161825"/>
            <a:ext cx="241200" cy="114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1F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t/>
            </a:r>
            <a:endParaRPr b="0" i="0" sz="55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  <a:defRPr b="1" i="0" sz="550" u="none" cap="none" strike="noStrike">
                <a:solidFill>
                  <a:srgbClr val="F1F0ED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emplate 1 3">
  <p:cSld name="TITLE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emplate 1 3 1">
  <p:cSld name="TITLE_4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3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swald Medium"/>
                <a:ea typeface="Oswald Medium"/>
                <a:cs typeface="Oswald Medium"/>
                <a:sym typeface="Oswald Medium"/>
              </a:rPr>
              <a:t>Rohit Agarwal</a:t>
            </a:r>
            <a:br>
              <a:rPr lang="en-GB"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-GB">
                <a:latin typeface="Oswald Medium"/>
                <a:ea typeface="Oswald Medium"/>
                <a:cs typeface="Oswald Medium"/>
                <a:sym typeface="Oswald Medium"/>
              </a:rPr>
              <a:t>@jumbld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311700" y="1389600"/>
            <a:ext cx="4444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Outfit"/>
                <a:ea typeface="Outfit"/>
                <a:cs typeface="Outfit"/>
                <a:sym typeface="Outfit"/>
              </a:rPr>
              <a:t>- Co-founder, Framebench </a:t>
            </a:r>
            <a:endParaRPr sz="19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Outfit"/>
                <a:ea typeface="Outfit"/>
                <a:cs typeface="Outfit"/>
                <a:sym typeface="Outfit"/>
              </a:rPr>
              <a:t>- Platform Engg &amp; Product, Freshworks</a:t>
            </a:r>
            <a:endParaRPr sz="19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Outfit"/>
                <a:ea typeface="Outfit"/>
                <a:cs typeface="Outfit"/>
                <a:sym typeface="Outfit"/>
              </a:rPr>
              <a:t>- Product, Pepper</a:t>
            </a:r>
            <a:endParaRPr sz="19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00">
                <a:latin typeface="Outfit"/>
                <a:ea typeface="Outfit"/>
                <a:cs typeface="Outfit"/>
                <a:sym typeface="Outfit"/>
              </a:rPr>
              <a:t>- Co-founder, Portkey</a:t>
            </a:r>
            <a:endParaRPr sz="19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050" y="361275"/>
            <a:ext cx="6017900" cy="2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163" y="3780698"/>
            <a:ext cx="1575274" cy="47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9618" y="3716151"/>
            <a:ext cx="1151103" cy="60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9002" y="3833393"/>
            <a:ext cx="1151103" cy="36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0583" y="3814162"/>
            <a:ext cx="951904" cy="407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9889" y="4357681"/>
            <a:ext cx="1392282" cy="50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05227" y="4442150"/>
            <a:ext cx="916190" cy="334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54472" y="4407625"/>
            <a:ext cx="1965459" cy="3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2962" y="3852649"/>
            <a:ext cx="1119882" cy="3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1"/>
          <p:cNvPicPr preferRelativeResize="0"/>
          <p:nvPr/>
        </p:nvPicPr>
        <p:blipFill rotWithShape="1">
          <a:blip r:embed="rId12">
            <a:alphaModFix/>
          </a:blip>
          <a:srcRect b="38205" l="13680" r="18017" t="36095"/>
          <a:stretch/>
        </p:blipFill>
        <p:spPr>
          <a:xfrm>
            <a:off x="6552987" y="4413435"/>
            <a:ext cx="1392275" cy="39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45283" y="9187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22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Challenges with LLMs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Limitations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 txBox="1"/>
          <p:nvPr/>
        </p:nvSpPr>
        <p:spPr>
          <a:xfrm>
            <a:off x="415250" y="1632175"/>
            <a:ext cx="6247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10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Low visibility &amp; control over cost &amp; performance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High switching &amp; testing costs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Code isn’t future-proof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Regular security &amp; safety nightmares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/>
        </p:nvSpPr>
        <p:spPr>
          <a:xfrm>
            <a:off x="334100" y="818550"/>
            <a:ext cx="4799700" cy="4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4800">
                <a:solidFill>
                  <a:srgbClr val="F1F0ED"/>
                </a:solidFill>
                <a:latin typeface="Oswald"/>
                <a:ea typeface="Oswald"/>
                <a:cs typeface="Oswald"/>
                <a:sym typeface="Oswald"/>
              </a:rPr>
              <a:t>But these are ALL Ops challenges</a:t>
            </a:r>
            <a:endParaRPr sz="4800">
              <a:solidFill>
                <a:srgbClr val="F1F0ED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500">
                <a:solidFill>
                  <a:srgbClr val="F1F0ED"/>
                </a:solidFill>
                <a:latin typeface="Outfit Light"/>
                <a:ea typeface="Outfit Light"/>
                <a:cs typeface="Outfit Light"/>
                <a:sym typeface="Outfit Light"/>
              </a:rPr>
              <a:t>DevOps solves this in the traditional engineering world</a:t>
            </a:r>
            <a:endParaRPr sz="3500">
              <a:solidFill>
                <a:srgbClr val="F1F0ED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F1F0ED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sz="4800">
              <a:solidFill>
                <a:srgbClr val="F1F0E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/>
        </p:nvSpPr>
        <p:spPr>
          <a:xfrm>
            <a:off x="415250" y="6090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Go from this..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75" y="1923353"/>
            <a:ext cx="7572949" cy="163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325" y="98500"/>
            <a:ext cx="5780499" cy="49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/>
          <p:nvPr/>
        </p:nvSpPr>
        <p:spPr>
          <a:xfrm>
            <a:off x="415250" y="6090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To this.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Open Source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AI Gateway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7"/>
          <p:cNvPicPr preferRelativeResize="0"/>
          <p:nvPr/>
        </p:nvPicPr>
        <p:blipFill rotWithShape="1">
          <a:blip r:embed="rId3">
            <a:alphaModFix/>
          </a:blip>
          <a:srcRect b="80224" l="0" r="76210" t="0"/>
          <a:stretch/>
        </p:blipFill>
        <p:spPr>
          <a:xfrm>
            <a:off x="2768000" y="144400"/>
            <a:ext cx="1766008" cy="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925" y="661350"/>
            <a:ext cx="4849123" cy="448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50" y="2069961"/>
            <a:ext cx="488200" cy="4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8550" y="2163762"/>
            <a:ext cx="1311425" cy="27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238" y="2781526"/>
            <a:ext cx="1424675" cy="18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7"/>
          <p:cNvSpPr txBox="1"/>
          <p:nvPr/>
        </p:nvSpPr>
        <p:spPr>
          <a:xfrm>
            <a:off x="529750" y="4575925"/>
            <a:ext cx="158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434343"/>
                </a:solidFill>
                <a:latin typeface="Inter Tight"/>
                <a:ea typeface="Inter Tight"/>
                <a:cs typeface="Inter Tight"/>
                <a:sym typeface="Inter Tight"/>
              </a:rPr>
              <a:t>25 providers supported</a:t>
            </a:r>
            <a:endParaRPr b="1" sz="1000">
              <a:solidFill>
                <a:srgbClr val="434343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063" y="1515744"/>
            <a:ext cx="1619414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/>
        </p:nvSpPr>
        <p:spPr>
          <a:xfrm>
            <a:off x="334100" y="600900"/>
            <a:ext cx="47997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4800">
                <a:solidFill>
                  <a:srgbClr val="F1F0ED"/>
                </a:solidFill>
                <a:latin typeface="Oswald"/>
                <a:ea typeface="Oswald"/>
                <a:cs typeface="Oswald"/>
                <a:sym typeface="Oswald"/>
              </a:rPr>
              <a:t>How do you get the confidence to launch an AI feature?</a:t>
            </a:r>
            <a:endParaRPr b="1" sz="4800">
              <a:solidFill>
                <a:srgbClr val="F1F0E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" name="Google Shape;150;p29"/>
          <p:cNvSpPr txBox="1"/>
          <p:nvPr/>
        </p:nvSpPr>
        <p:spPr>
          <a:xfrm>
            <a:off x="415250" y="1479775"/>
            <a:ext cx="3639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10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Find and clean data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Prepare train, test, validation data sets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Prepare a training pipeline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Test the freshly minted model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Beta testing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Go live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415250" y="7614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Before 2021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415250" y="3612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13599" l="0" r="0" t="0"/>
          <a:stretch/>
        </p:blipFill>
        <p:spPr>
          <a:xfrm>
            <a:off x="4207550" y="1339123"/>
            <a:ext cx="4425900" cy="2872500"/>
          </a:xfrm>
          <a:prstGeom prst="roundRect">
            <a:avLst>
              <a:gd fmla="val 11846" name="adj"/>
            </a:avLst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30"/>
          <p:cNvSpPr txBox="1"/>
          <p:nvPr/>
        </p:nvSpPr>
        <p:spPr>
          <a:xfrm>
            <a:off x="415250" y="7614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Jan 2021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415250" y="3612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415250" y="1479775"/>
            <a:ext cx="3639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10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Write 10 prompts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Connect to the OpenAI API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Go live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450" y="1038900"/>
            <a:ext cx="4910100" cy="2760900"/>
          </a:xfrm>
          <a:prstGeom prst="roundRect">
            <a:avLst>
              <a:gd fmla="val 722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4" name="Google Shape;1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173625" y="462975"/>
            <a:ext cx="8781000" cy="4499700"/>
          </a:xfrm>
          <a:prstGeom prst="roundRect">
            <a:avLst>
              <a:gd fmla="val 1849" name="adj"/>
            </a:avLst>
          </a:prstGeom>
          <a:solidFill>
            <a:srgbClr val="F1F0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31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3">
            <a:alphaModFix/>
          </a:blip>
          <a:srcRect b="0" l="0" r="31408" t="43390"/>
          <a:stretch/>
        </p:blipFill>
        <p:spPr>
          <a:xfrm>
            <a:off x="357163" y="2027625"/>
            <a:ext cx="8432400" cy="130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3" name="Google Shape;1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/>
          <p:nvPr/>
        </p:nvSpPr>
        <p:spPr>
          <a:xfrm>
            <a:off x="173625" y="462975"/>
            <a:ext cx="8781000" cy="4499700"/>
          </a:xfrm>
          <a:prstGeom prst="roundRect">
            <a:avLst>
              <a:gd fmla="val 1849" name="adj"/>
            </a:avLst>
          </a:prstGeom>
          <a:solidFill>
            <a:srgbClr val="F1F0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 rotWithShape="1">
          <a:blip r:embed="rId3">
            <a:alphaModFix/>
          </a:blip>
          <a:srcRect b="34015" l="0" r="0" t="0"/>
          <a:stretch/>
        </p:blipFill>
        <p:spPr>
          <a:xfrm>
            <a:off x="1143000" y="956975"/>
            <a:ext cx="6858000" cy="2953800"/>
          </a:xfrm>
          <a:prstGeom prst="roundRect">
            <a:avLst>
              <a:gd fmla="val 9781" name="adj"/>
            </a:avLst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CCCCCC">
                <a:alpha val="50000"/>
              </a:srgbClr>
            </a:outerShdw>
          </a:effectLst>
        </p:spPr>
      </p:pic>
      <p:sp>
        <p:nvSpPr>
          <p:cNvPr id="182" name="Google Shape;182;p32"/>
          <p:cNvSpPr/>
          <p:nvPr/>
        </p:nvSpPr>
        <p:spPr>
          <a:xfrm>
            <a:off x="2331700" y="2480800"/>
            <a:ext cx="5576400" cy="62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Your AI doesn’t work</a:t>
            </a:r>
            <a:endParaRPr sz="1600">
              <a:solidFill>
                <a:srgbClr val="66666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3" name="Google Shape;183;p32"/>
          <p:cNvSpPr/>
          <p:nvPr/>
        </p:nvSpPr>
        <p:spPr>
          <a:xfrm>
            <a:off x="3572125" y="2130950"/>
            <a:ext cx="1600800" cy="349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33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Big, bigger, giant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More Models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825" y="1096215"/>
            <a:ext cx="4242900" cy="2523300"/>
          </a:xfrm>
          <a:prstGeom prst="roundRect">
            <a:avLst>
              <a:gd fmla="val 9986" name="adj"/>
            </a:avLst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3" name="Google Shape;19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151" y="1722025"/>
            <a:ext cx="2091900" cy="1897500"/>
          </a:xfrm>
          <a:prstGeom prst="roundRect">
            <a:avLst>
              <a:gd fmla="val 4561" name="adj"/>
            </a:avLst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" name="Google Shape;19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6125" y="3827350"/>
            <a:ext cx="3167100" cy="97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/>
          <p:nvPr/>
        </p:nvSpPr>
        <p:spPr>
          <a:xfrm>
            <a:off x="173625" y="462975"/>
            <a:ext cx="8781000" cy="4499700"/>
          </a:xfrm>
          <a:prstGeom prst="roundRect">
            <a:avLst>
              <a:gd fmla="val 1849" name="adj"/>
            </a:avLst>
          </a:prstGeom>
          <a:solidFill>
            <a:srgbClr val="F1F0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34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 rotWithShape="1">
          <a:blip r:embed="rId3">
            <a:alphaModFix/>
          </a:blip>
          <a:srcRect b="0" l="2237" r="4522" t="0"/>
          <a:stretch/>
        </p:blipFill>
        <p:spPr>
          <a:xfrm>
            <a:off x="1245700" y="821625"/>
            <a:ext cx="6233700" cy="3558300"/>
          </a:xfrm>
          <a:prstGeom prst="roundRect">
            <a:avLst>
              <a:gd fmla="val 10707" name="adj"/>
            </a:avLst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35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Challenges with LLMs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11" name="Google Shape;211;p35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Limitations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5"/>
          <p:cNvSpPr txBox="1"/>
          <p:nvPr/>
        </p:nvSpPr>
        <p:spPr>
          <a:xfrm>
            <a:off x="415250" y="1632175"/>
            <a:ext cx="6247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10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Low visibility &amp; control over cost &amp; performance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High switching &amp; testing costs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Code isn’t future-proof</a:t>
            </a:r>
            <a:b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marR="1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Outfit"/>
              <a:buChar char="●"/>
            </a:pPr>
            <a:r>
              <a:rPr lang="en-GB" sz="180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Regular security &amp; safety nightmares</a:t>
            </a:r>
            <a:endParaRPr sz="1800">
              <a:solidFill>
                <a:srgbClr val="59595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/>
        </p:nvSpPr>
        <p:spPr>
          <a:xfrm>
            <a:off x="334100" y="818550"/>
            <a:ext cx="4799700" cy="4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4800">
                <a:solidFill>
                  <a:srgbClr val="F1F0ED"/>
                </a:solidFill>
                <a:latin typeface="Oswald"/>
                <a:ea typeface="Oswald"/>
                <a:cs typeface="Oswald"/>
                <a:sym typeface="Oswald"/>
              </a:rPr>
              <a:t>But these are ALL Ops challenges</a:t>
            </a:r>
            <a:endParaRPr sz="4800">
              <a:solidFill>
                <a:srgbClr val="F1F0ED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500">
                <a:solidFill>
                  <a:srgbClr val="F1F0ED"/>
                </a:solidFill>
                <a:latin typeface="Outfit Light"/>
                <a:ea typeface="Outfit Light"/>
                <a:cs typeface="Outfit Light"/>
                <a:sym typeface="Outfit Light"/>
              </a:rPr>
              <a:t>DevOps solves this in the traditional engineering world</a:t>
            </a:r>
            <a:endParaRPr sz="3500">
              <a:solidFill>
                <a:srgbClr val="F1F0ED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F1F0ED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sz="4800">
              <a:solidFill>
                <a:srgbClr val="F1F0E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412625" y="86459"/>
            <a:ext cx="54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158" y="119922"/>
            <a:ext cx="971341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/>
        </p:nvSpPr>
        <p:spPr>
          <a:xfrm>
            <a:off x="415250" y="6090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Go from this..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75" y="1923353"/>
            <a:ext cx="7572949" cy="163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325" y="98500"/>
            <a:ext cx="5780499" cy="49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 txBox="1"/>
          <p:nvPr/>
        </p:nvSpPr>
        <p:spPr>
          <a:xfrm>
            <a:off x="415250" y="6090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To this.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Open Source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43" name="Google Shape;243;p40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AI Gateway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3">
            <a:alphaModFix/>
          </a:blip>
          <a:srcRect b="80224" l="0" r="76210" t="0"/>
          <a:stretch/>
        </p:blipFill>
        <p:spPr>
          <a:xfrm>
            <a:off x="2768000" y="144400"/>
            <a:ext cx="1766008" cy="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925" y="661350"/>
            <a:ext cx="4849123" cy="448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50" y="2069961"/>
            <a:ext cx="488200" cy="4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8550" y="2163762"/>
            <a:ext cx="1311425" cy="27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238" y="2781526"/>
            <a:ext cx="1424675" cy="18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0"/>
          <p:cNvSpPr txBox="1"/>
          <p:nvPr/>
        </p:nvSpPr>
        <p:spPr>
          <a:xfrm>
            <a:off x="529750" y="4575925"/>
            <a:ext cx="158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434343"/>
                </a:solidFill>
                <a:latin typeface="Inter Tight"/>
                <a:ea typeface="Inter Tight"/>
                <a:cs typeface="Inter Tight"/>
                <a:sym typeface="Inter Tight"/>
              </a:rPr>
              <a:t>25 providers supported</a:t>
            </a:r>
            <a:endParaRPr b="1" sz="1000">
              <a:solidFill>
                <a:srgbClr val="434343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50" name="Google Shape;250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063" y="1515744"/>
            <a:ext cx="1619414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Open Source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56" name="Google Shape;256;p41"/>
          <p:cNvSpPr txBox="1"/>
          <p:nvPr/>
        </p:nvSpPr>
        <p:spPr>
          <a:xfrm>
            <a:off x="415250" y="513650"/>
            <a:ext cx="8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4D3FF"/>
                </a:solidFill>
                <a:latin typeface="Outfit"/>
                <a:ea typeface="Outfit"/>
                <a:cs typeface="Outfit"/>
                <a:sym typeface="Outfit"/>
              </a:rPr>
              <a:t>AI Gateway</a:t>
            </a:r>
            <a:endParaRPr b="0" i="0" sz="1400" u="none" cap="none" strike="noStrike">
              <a:solidFill>
                <a:srgbClr val="B4D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41"/>
          <p:cNvPicPr preferRelativeResize="0"/>
          <p:nvPr/>
        </p:nvPicPr>
        <p:blipFill rotWithShape="1">
          <a:blip r:embed="rId3">
            <a:alphaModFix/>
          </a:blip>
          <a:srcRect b="80224" l="0" r="76210" t="0"/>
          <a:stretch/>
        </p:blipFill>
        <p:spPr>
          <a:xfrm>
            <a:off x="2768000" y="144400"/>
            <a:ext cx="1766008" cy="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925" y="661350"/>
            <a:ext cx="4849123" cy="448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250" y="1514145"/>
            <a:ext cx="1469800" cy="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250" y="2069961"/>
            <a:ext cx="488200" cy="4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8550" y="2163762"/>
            <a:ext cx="1311425" cy="27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4238" y="2781526"/>
            <a:ext cx="1424675" cy="18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/>
        </p:nvSpPr>
        <p:spPr>
          <a:xfrm>
            <a:off x="529750" y="4575925"/>
            <a:ext cx="158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434343"/>
                </a:solidFill>
                <a:latin typeface="Inter Tight"/>
                <a:ea typeface="Inter Tight"/>
                <a:cs typeface="Inter Tight"/>
                <a:sym typeface="Inter Tight"/>
              </a:rPr>
              <a:t>25 providers supported</a:t>
            </a:r>
            <a:endParaRPr b="1" sz="1000">
              <a:solidFill>
                <a:srgbClr val="434343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25200" y="0"/>
            <a:ext cx="9055800" cy="5143500"/>
          </a:xfrm>
          <a:prstGeom prst="roundRect">
            <a:avLst>
              <a:gd fmla="val 16667" name="adj"/>
            </a:avLst>
          </a:prstGeom>
          <a:solidFill>
            <a:srgbClr val="000000">
              <a:alpha val="43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1"/>
          <p:cNvPicPr preferRelativeResize="0"/>
          <p:nvPr/>
        </p:nvPicPr>
        <p:blipFill rotWithShape="1">
          <a:blip r:embed="rId9">
            <a:alphaModFix/>
          </a:blip>
          <a:srcRect b="0" l="0" r="3883" t="0"/>
          <a:stretch/>
        </p:blipFill>
        <p:spPr>
          <a:xfrm>
            <a:off x="3349088" y="635000"/>
            <a:ext cx="3281175" cy="332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6" name="Google Shape;266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4377" y="3085227"/>
            <a:ext cx="2807525" cy="190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38" y="404350"/>
            <a:ext cx="8342324" cy="44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2325"/>
            <a:ext cx="8839199" cy="4178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438"/>
            <a:ext cx="8839200" cy="4282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91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425" y="152400"/>
            <a:ext cx="740715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63" y="152400"/>
            <a:ext cx="756106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/>
          <p:nvPr/>
        </p:nvSpPr>
        <p:spPr>
          <a:xfrm>
            <a:off x="693250" y="938975"/>
            <a:ext cx="1658400" cy="42990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325" y="98500"/>
            <a:ext cx="5780499" cy="49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8"/>
          <p:cNvSpPr txBox="1"/>
          <p:nvPr/>
        </p:nvSpPr>
        <p:spPr>
          <a:xfrm>
            <a:off x="617075" y="459875"/>
            <a:ext cx="2024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The 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AI Gateway</a:t>
            </a:r>
            <a:endParaRPr sz="30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Pattern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415250" y="913838"/>
            <a:ext cx="831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rgbClr val="0052D9"/>
                </a:solidFill>
                <a:latin typeface="Oswald Medium"/>
                <a:ea typeface="Oswald Medium"/>
                <a:cs typeface="Oswald Medium"/>
                <a:sym typeface="Oswald Medium"/>
              </a:rPr>
              <a:t>Thanks!</a:t>
            </a:r>
            <a:endParaRPr sz="3000">
              <a:solidFill>
                <a:srgbClr val="0052D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