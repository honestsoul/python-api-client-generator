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Non‑Functional Requirements (NFRs)</a:t>
            </a:r>
          </a:p>
          <a:p>
            <a:r>
              <a:t>for 3rd Party SaaS with Agentic 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integration checklist (Availability • Security • Compliance • Observability • Ops)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b="1" sz="2000"/>
              <a:t>What we’re building</a:t>
            </a:r>
          </a:p>
          <a:p>
            <a:pPr>
              <a:defRPr sz="1800"/>
            </a:pPr>
            <a:r>
              <a:t>Integrate 3rd Party SaaS into enterprise workflows with background agents</a:t>
            </a:r>
          </a:p>
          <a:p>
            <a:pPr>
              <a:defRPr sz="1800"/>
            </a:pPr>
            <a:r>
              <a:t>Agents execute multi‑step tasks using tools/APIs/LLMs (human‑in‑the‑loop where required)</a:t>
            </a:r>
          </a:p>
          <a:p>
            <a:pPr>
              <a:defRPr sz="1800"/>
            </a:pPr>
            <a:r>
              <a:t>Ensure safety, reliability, governance, and auditability at enterprise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High‑Level Reference 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Workflow Orchestrator / Case Engine (enterprise workflow)</a:t>
            </a:r>
          </a:p>
          <a:p>
            <a:pPr>
              <a:defRPr sz="1800"/>
            </a:pPr>
            <a:r>
              <a:t>Agent Runtime (task planning + tool selection + execution)</a:t>
            </a:r>
          </a:p>
          <a:p>
            <a:pPr>
              <a:defRPr sz="1800"/>
            </a:pPr>
            <a:r>
              <a:t>Tool Layer (API adapters, connectors, function gateways)</a:t>
            </a:r>
          </a:p>
          <a:p>
            <a:pPr>
              <a:defRPr sz="1800"/>
            </a:pPr>
            <a:r>
              <a:t>Model Layer (LLMs + routing/fallback)</a:t>
            </a:r>
          </a:p>
          <a:p>
            <a:pPr>
              <a:defRPr sz="1800"/>
            </a:pPr>
            <a:r>
              <a:t>Data Layer (RAG/search, documents, KB)</a:t>
            </a:r>
          </a:p>
          <a:p>
            <a:pPr>
              <a:defRPr sz="1800"/>
            </a:pPr>
            <a:r>
              <a:t>Observability + Guardrails (Arize + Model Armor)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NFR Categories (Top‑Level)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Availability • Reliability • Resilience</a:t>
            </a:r>
          </a:p>
          <a:p>
            <a:pPr>
              <a:defRPr sz="1800"/>
            </a:pPr>
            <a:r>
              <a:t>Performance • Scalability • Cost Controls</a:t>
            </a:r>
          </a:p>
          <a:p>
            <a:pPr>
              <a:defRPr sz="1800"/>
            </a:pPr>
            <a:r>
              <a:t>Security (IAM, network, secrets, action boundaries)</a:t>
            </a:r>
          </a:p>
          <a:p>
            <a:pPr>
              <a:defRPr sz="1800"/>
            </a:pPr>
            <a:r>
              <a:t>Privacy • Data Governance • Data Residency</a:t>
            </a:r>
          </a:p>
          <a:p>
            <a:pPr>
              <a:defRPr sz="1800"/>
            </a:pPr>
            <a:r>
              <a:t>Compliance • Auditability • Explainability</a:t>
            </a:r>
          </a:p>
          <a:p>
            <a:pPr>
              <a:defRPr sz="1800"/>
            </a:pPr>
            <a:r>
              <a:t>Observability • Monitoring • Incident Response</a:t>
            </a:r>
          </a:p>
          <a:p>
            <a:pPr>
              <a:defRPr sz="1800"/>
            </a:pPr>
            <a:r>
              <a:t>Maintainability • Testability • Lifecycle Management</a:t>
            </a:r>
          </a:p>
          <a:p>
            <a:pPr>
              <a:defRPr sz="1800"/>
            </a:pPr>
            <a:r>
              <a:t>Interoperability • Integration Robustness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Availability, Reliability &amp;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Define SLOs: workflow success rate, task latency, tool-call success rate</a:t>
            </a:r>
          </a:p>
          <a:p>
            <a:pPr>
              <a:defRPr sz="1800"/>
            </a:pPr>
            <a:r>
              <a:t>Multi‑AZ HA + automated failover (clear RTO/RPO by workflow tier)</a:t>
            </a:r>
          </a:p>
          <a:p>
            <a:pPr>
              <a:defRPr sz="1800"/>
            </a:pPr>
            <a:r>
              <a:t>Retry policies with exponential backoff + circuit breakers per dependency</a:t>
            </a:r>
          </a:p>
          <a:p>
            <a:pPr>
              <a:defRPr sz="1800"/>
            </a:pPr>
            <a:r>
              <a:t>Async queues + backpressure to protect workflow engine</a:t>
            </a:r>
          </a:p>
          <a:p>
            <a:pPr>
              <a:defRPr sz="1800"/>
            </a:pPr>
            <a:r>
              <a:t>Idempotency for all side‑effect actions (exactly‑once semantics where feasible)</a:t>
            </a:r>
          </a:p>
          <a:p>
            <a:pPr>
              <a:defRPr sz="1800"/>
            </a:pPr>
            <a:r>
              <a:t>Degraded mode: rules/manual review when LLM/tooling is unavailable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Performance, Scalability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Latency budgets per workflow stage (UI step vs background agent step)</a:t>
            </a:r>
          </a:p>
          <a:p>
            <a:pPr>
              <a:defRPr sz="1800"/>
            </a:pPr>
            <a:r>
              <a:t>Throughput targets: peak case volume + concurrent agent tasks</a:t>
            </a:r>
          </a:p>
          <a:p>
            <a:pPr>
              <a:defRPr sz="1800"/>
            </a:pPr>
            <a:r>
              <a:t>Resource isolation: separate compute pools for workflow vs agent runtime</a:t>
            </a:r>
          </a:p>
          <a:p>
            <a:pPr>
              <a:defRPr sz="1800"/>
            </a:pPr>
            <a:r>
              <a:t>Caching for retrieval/results with strict TTL + invalidation rules</a:t>
            </a:r>
          </a:p>
          <a:p>
            <a:pPr>
              <a:defRPr sz="1800"/>
            </a:pPr>
            <a:r>
              <a:t>Token budgets per case/step and rate limits per tenant/workflow</a:t>
            </a:r>
          </a:p>
          <a:p>
            <a:pPr>
              <a:defRPr sz="1800"/>
            </a:pPr>
            <a:r>
              <a:t>Tiered model routing: small model first, escalate only when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Security (Enterprise Controls)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Strong service identity for agent runtime (mTLS / workload identity)</a:t>
            </a:r>
          </a:p>
          <a:p>
            <a:pPr>
              <a:defRPr sz="1800"/>
            </a:pPr>
            <a:r>
              <a:t>Least‑privilege RBAC/ABAC for each workflow + tool permission boundary</a:t>
            </a:r>
          </a:p>
          <a:p>
            <a:pPr>
              <a:defRPr sz="1800"/>
            </a:pPr>
            <a:r>
              <a:t>Secrets management: vault, rotation, short‑lived tokens (no secrets in prompts/logs)</a:t>
            </a:r>
          </a:p>
          <a:p>
            <a:pPr>
              <a:defRPr sz="1800"/>
            </a:pPr>
            <a:r>
              <a:t>Private networking + egress controls + allowlists + WAF where applicable</a:t>
            </a:r>
          </a:p>
          <a:p>
            <a:pPr>
              <a:defRPr sz="1800"/>
            </a:pPr>
            <a:r>
              <a:t>Prompt/tool injection defenses: strict input schema validation, deny‑by‑default</a:t>
            </a:r>
          </a:p>
          <a:p>
            <a:pPr>
              <a:defRPr sz="1800"/>
            </a:pPr>
            <a:r>
              <a:t>Action constraints: tool allowlist + safe execution limits for destructive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Privacy &amp; 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classification: PII/PHI/PCI/Confidential field tagging</a:t>
            </a:r>
          </a:p>
          <a:p>
            <a:pPr>
              <a:defRPr sz="1800"/>
            </a:pPr>
            <a:r>
              <a:t>Redaction/tokenization before model calls (minimize sensitive exposure)</a:t>
            </a:r>
          </a:p>
          <a:p>
            <a:pPr>
              <a:defRPr sz="1800"/>
            </a:pPr>
            <a:r>
              <a:t>Retention policy for prompts, traces, outputs, embeddings</a:t>
            </a:r>
          </a:p>
          <a:p>
            <a:pPr>
              <a:defRPr sz="1800"/>
            </a:pPr>
            <a:r>
              <a:t>Data residency constraints (region-bound storage + inference where required)</a:t>
            </a:r>
          </a:p>
          <a:p>
            <a:pPr>
              <a:defRPr sz="1800"/>
            </a:pPr>
            <a:r>
              <a:t>Consent + purpose limitation (explicit allowed use cases)</a:t>
            </a:r>
          </a:p>
          <a:p>
            <a:pPr>
              <a:defRPr sz="1800"/>
            </a:pPr>
            <a:r>
              <a:t>Right-to-delete workflows where applicable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Compliance, Auditability &amp;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Immutable audit trail: case ID → agent task → tools called → decisions → outputs</a:t>
            </a:r>
          </a:p>
          <a:p>
            <a:pPr>
              <a:defRPr sz="1800"/>
            </a:pPr>
            <a:r>
              <a:t>Structured rationale logging (not only free-text)</a:t>
            </a:r>
          </a:p>
          <a:p>
            <a:pPr>
              <a:defRPr sz="1800"/>
            </a:pPr>
            <a:r>
              <a:t>Versioning of prompts, tools, policies, connectors, and workflows</a:t>
            </a:r>
          </a:p>
          <a:p>
            <a:pPr>
              <a:defRPr sz="1800"/>
            </a:pPr>
            <a:r>
              <a:t>Approval gates for production changes (especially high-risk workflows)</a:t>
            </a:r>
          </a:p>
          <a:p>
            <a:pPr>
              <a:defRPr sz="1800"/>
            </a:pPr>
            <a:r>
              <a:t>Regulatory alignment mapping (SOC2/ISO/PCI/HIPAA/FFIEC as applicable)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Observability + Guardrails (Arize + Model Armor)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Distributed tracing: workflow → agent → tool → model</a:t>
            </a:r>
          </a:p>
          <a:p>
            <a:pPr>
              <a:defRPr sz="1800"/>
            </a:pPr>
            <a:r>
              <a:t>Golden signals: latency, errors, throughput, saturation per dependency</a:t>
            </a:r>
          </a:p>
          <a:p>
            <a:pPr>
              <a:defRPr sz="1800"/>
            </a:pPr>
            <a:r>
              <a:t>LLM telemetry: prompt/model version, tokens, refusals, safety triggers</a:t>
            </a:r>
          </a:p>
          <a:p>
            <a:pPr>
              <a:defRPr sz="1800"/>
            </a:pPr>
            <a:r>
              <a:t>Quality monitoring: rework rate, escalations, SLA breaches, outcome KPIs</a:t>
            </a:r>
          </a:p>
          <a:p>
            <a:pPr>
              <a:defRPr sz="1800"/>
            </a:pPr>
            <a:r>
              <a:t>Alerting + runbooks: outages, model degradation, drift, guardrail violations</a:t>
            </a:r>
          </a:p>
          <a:p>
            <a:pPr>
              <a:defRPr sz="1800"/>
            </a:pPr>
            <a:r>
              <a:t>Forensics: reconstruct “what happened” for any case quickly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Operations, Lifecycle &amp; 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Modular design: orchestration vs agent runtime vs tools vs data</a:t>
            </a:r>
          </a:p>
          <a:p>
            <a:pPr>
              <a:defRPr sz="1800"/>
            </a:pPr>
            <a:r>
              <a:t>Testing: unit/contract tests for connectors + regression suite (golden cases)</a:t>
            </a:r>
          </a:p>
          <a:p>
            <a:pPr>
              <a:defRPr sz="1800"/>
            </a:pPr>
            <a:r>
              <a:t>Simulation + synthetic data tests for new prompts/models</a:t>
            </a:r>
          </a:p>
          <a:p>
            <a:pPr>
              <a:defRPr sz="1800"/>
            </a:pPr>
            <a:r>
              <a:t>Canary releases / A/B for agent changes + rollback plan</a:t>
            </a:r>
          </a:p>
          <a:p>
            <a:pPr>
              <a:defRPr sz="1800"/>
            </a:pPr>
            <a:r>
              <a:t>SRE playbooks: incident response, DR testing, chaos testing</a:t>
            </a:r>
          </a:p>
          <a:p>
            <a:pPr>
              <a:defRPr sz="1800"/>
            </a:pPr>
            <a:r>
              <a:t>Continuous improvement loop: telemetry → defects → policy updates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Minimum NFR Set (Copy/Paste Checklist)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SLOs + HA/failover + degraded mode</a:t>
            </a:r>
          </a:p>
          <a:p>
            <a:pPr>
              <a:defRPr sz="1800"/>
            </a:pPr>
            <a:r>
              <a:t>Idempotency, retries, circuit breakers, queues/backpressure</a:t>
            </a:r>
          </a:p>
          <a:p>
            <a:pPr>
              <a:defRPr sz="1800"/>
            </a:pPr>
            <a:r>
              <a:t>Least privilege IAM + private networking + secret rotation</a:t>
            </a:r>
          </a:p>
          <a:p>
            <a:pPr>
              <a:defRPr sz="1800"/>
            </a:pPr>
            <a:r>
              <a:t>Privacy classification + retention + redaction</a:t>
            </a:r>
          </a:p>
          <a:p>
            <a:pPr>
              <a:defRPr sz="1800"/>
            </a:pPr>
            <a:r>
              <a:t>Compliance: immutable audit trail + structured rationale</a:t>
            </a:r>
          </a:p>
          <a:p>
            <a:pPr>
              <a:defRPr sz="1800"/>
            </a:pPr>
            <a:r>
              <a:t>Observability: tracing + metrics + runbooks + forensics</a:t>
            </a:r>
          </a:p>
          <a:p>
            <a:pPr>
              <a:defRPr sz="1800"/>
            </a:pPr>
            <a:r>
              <a:t>Lifecycle: versioning, testing, canary releases, rollback</a:t>
            </a:r>
          </a:p>
          <a:p>
            <a:pPr>
              <a:defRPr sz="1800"/>
            </a:pPr>
            <a:r>
              <a:t>Portability: model abstraction + fallback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