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image" Target="../media/image-2-10.png"/><Relationship Id="rId11" Type="http://schemas.openxmlformats.org/officeDocument/2006/relationships/image" Target="../media/image-2-11.png"/><Relationship Id="rId12" Type="http://schemas.openxmlformats.org/officeDocument/2006/relationships/image" Target="../media/image-2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4E7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Non-Functional Requirements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21945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2C39A"/>
                </a:solidFill>
              </a:rPr>
              <a:t>Pegasus Agent System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29260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F5F5F5"/>
                </a:solidFill>
              </a:rPr>
              <a:t>Enterprise Integration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F5F5"/>
                </a:solidFill>
              </a:rPr>
              <a:t>Complementing Arize (Observability) &amp; Google Model Armor (Guardrails)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4E78"/>
                </a:solidFill>
              </a:rPr>
              <a:t>NFR Overview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40080" y="1097280"/>
            <a:ext cx="2011680" cy="822960"/>
          </a:xfrm>
          <a:prstGeom prst="rect">
            <a:avLst/>
          </a:prstGeom>
          <a:solidFill>
            <a:srgbClr val="F5F5F5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280160"/>
            <a:ext cx="365760" cy="3657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34440" y="123444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3E50"/>
                </a:solidFill>
              </a:rPr>
              <a:t>Performance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1234440" y="1536192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28090"/>
                </a:solidFill>
              </a:rPr>
              <a:t>10 NFRs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2743200" y="1097280"/>
            <a:ext cx="2011680" cy="822960"/>
          </a:xfrm>
          <a:prstGeom prst="rect">
            <a:avLst/>
          </a:prstGeom>
          <a:solidFill>
            <a:srgbClr val="F5F5F5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0360" y="1280160"/>
            <a:ext cx="365760" cy="36576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337560" y="123444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3E50"/>
                </a:solidFill>
              </a:rPr>
              <a:t>Reliability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3337560" y="1536192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28090"/>
                </a:solidFill>
              </a:rPr>
              <a:t>10 NFRs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4846320" y="1097280"/>
            <a:ext cx="2011680" cy="822960"/>
          </a:xfrm>
          <a:prstGeom prst="rect">
            <a:avLst/>
          </a:prstGeom>
          <a:solidFill>
            <a:srgbClr val="F5F5F5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3480" y="1280160"/>
            <a:ext cx="365760" cy="36576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440680" y="123444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3E50"/>
                </a:solidFill>
              </a:rPr>
              <a:t>Security</a:t>
            </a:r>
            <a:endParaRPr lang="en-US" sz="1400" dirty="0"/>
          </a:p>
        </p:txBody>
      </p:sp>
      <p:sp>
        <p:nvSpPr>
          <p:cNvPr id="14" name="Text 9"/>
          <p:cNvSpPr/>
          <p:nvPr/>
        </p:nvSpPr>
        <p:spPr>
          <a:xfrm>
            <a:off x="5440680" y="1536192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28090"/>
                </a:solidFill>
              </a:rPr>
              <a:t>23 NFRs</a:t>
            </a:r>
            <a:endParaRPr lang="en-US" sz="1200" dirty="0"/>
          </a:p>
        </p:txBody>
      </p:sp>
      <p:sp>
        <p:nvSpPr>
          <p:cNvPr id="15" name="Shape 10"/>
          <p:cNvSpPr/>
          <p:nvPr/>
        </p:nvSpPr>
        <p:spPr>
          <a:xfrm>
            <a:off x="6949440" y="1097280"/>
            <a:ext cx="2011680" cy="822960"/>
          </a:xfrm>
          <a:prstGeom prst="rect">
            <a:avLst/>
          </a:prstGeom>
          <a:solidFill>
            <a:srgbClr val="F5F5F5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86600" y="1280160"/>
            <a:ext cx="365760" cy="36576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7543800" y="123444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3E50"/>
                </a:solidFill>
              </a:rPr>
              <a:t>Model Resilience</a:t>
            </a:r>
            <a:endParaRPr lang="en-US" sz="1400" dirty="0"/>
          </a:p>
        </p:txBody>
      </p:sp>
      <p:sp>
        <p:nvSpPr>
          <p:cNvPr id="18" name="Text 12"/>
          <p:cNvSpPr/>
          <p:nvPr/>
        </p:nvSpPr>
        <p:spPr>
          <a:xfrm>
            <a:off x="7543800" y="1536192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28090"/>
                </a:solidFill>
              </a:rPr>
              <a:t>14 NFRs</a:t>
            </a:r>
            <a:endParaRPr lang="en-US" sz="1200" dirty="0"/>
          </a:p>
        </p:txBody>
      </p:sp>
      <p:sp>
        <p:nvSpPr>
          <p:cNvPr id="19" name="Shape 13"/>
          <p:cNvSpPr/>
          <p:nvPr/>
        </p:nvSpPr>
        <p:spPr>
          <a:xfrm>
            <a:off x="640080" y="2011680"/>
            <a:ext cx="2011680" cy="822960"/>
          </a:xfrm>
          <a:prstGeom prst="rect">
            <a:avLst/>
          </a:prstGeom>
          <a:solidFill>
            <a:srgbClr val="F5F5F5"/>
          </a:solidFill>
          <a:ln/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2194560"/>
            <a:ext cx="365760" cy="36576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1234440" y="214884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3E50"/>
                </a:solidFill>
              </a:rPr>
              <a:t>Integration</a:t>
            </a:r>
            <a:endParaRPr lang="en-US" sz="1400" dirty="0"/>
          </a:p>
        </p:txBody>
      </p:sp>
      <p:sp>
        <p:nvSpPr>
          <p:cNvPr id="22" name="Text 15"/>
          <p:cNvSpPr/>
          <p:nvPr/>
        </p:nvSpPr>
        <p:spPr>
          <a:xfrm>
            <a:off x="1234440" y="2450592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28090"/>
                </a:solidFill>
              </a:rPr>
              <a:t>12 NFRs</a:t>
            </a:r>
            <a:endParaRPr lang="en-US" sz="1200" dirty="0"/>
          </a:p>
        </p:txBody>
      </p:sp>
      <p:sp>
        <p:nvSpPr>
          <p:cNvPr id="23" name="Shape 16"/>
          <p:cNvSpPr/>
          <p:nvPr/>
        </p:nvSpPr>
        <p:spPr>
          <a:xfrm>
            <a:off x="2743200" y="2011680"/>
            <a:ext cx="2011680" cy="822960"/>
          </a:xfrm>
          <a:prstGeom prst="rect">
            <a:avLst/>
          </a:prstGeom>
          <a:solidFill>
            <a:srgbClr val="F5F5F5"/>
          </a:solidFill>
          <a:ln/>
        </p:spPr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80360" y="2194560"/>
            <a:ext cx="365760" cy="36576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3337560" y="214884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3E50"/>
                </a:solidFill>
              </a:rPr>
              <a:t>Observability</a:t>
            </a:r>
            <a:endParaRPr lang="en-US" sz="1400" dirty="0"/>
          </a:p>
        </p:txBody>
      </p:sp>
      <p:sp>
        <p:nvSpPr>
          <p:cNvPr id="26" name="Text 18"/>
          <p:cNvSpPr/>
          <p:nvPr/>
        </p:nvSpPr>
        <p:spPr>
          <a:xfrm>
            <a:off x="3337560" y="2450592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28090"/>
                </a:solidFill>
              </a:rPr>
              <a:t>10 NFRs</a:t>
            </a:r>
            <a:endParaRPr lang="en-US" sz="1200" dirty="0"/>
          </a:p>
        </p:txBody>
      </p:sp>
      <p:sp>
        <p:nvSpPr>
          <p:cNvPr id="27" name="Shape 19"/>
          <p:cNvSpPr/>
          <p:nvPr/>
        </p:nvSpPr>
        <p:spPr>
          <a:xfrm>
            <a:off x="4846320" y="2011680"/>
            <a:ext cx="2011680" cy="822960"/>
          </a:xfrm>
          <a:prstGeom prst="rect">
            <a:avLst/>
          </a:prstGeom>
          <a:solidFill>
            <a:srgbClr val="F5F5F5"/>
          </a:solidFill>
          <a:ln/>
        </p:spPr>
      </p:sp>
      <p:pic>
        <p:nvPicPr>
          <p:cNvPr id="2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83480" y="2194560"/>
            <a:ext cx="365760" cy="36576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5440680" y="214884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3E50"/>
                </a:solidFill>
              </a:rPr>
              <a:t>Guardrails</a:t>
            </a:r>
            <a:endParaRPr lang="en-US" sz="1400" dirty="0"/>
          </a:p>
        </p:txBody>
      </p:sp>
      <p:sp>
        <p:nvSpPr>
          <p:cNvPr id="30" name="Text 21"/>
          <p:cNvSpPr/>
          <p:nvPr/>
        </p:nvSpPr>
        <p:spPr>
          <a:xfrm>
            <a:off x="5440680" y="2450592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28090"/>
                </a:solidFill>
              </a:rPr>
              <a:t>15 NFRs</a:t>
            </a:r>
            <a:endParaRPr lang="en-US" sz="1200" dirty="0"/>
          </a:p>
        </p:txBody>
      </p:sp>
      <p:sp>
        <p:nvSpPr>
          <p:cNvPr id="31" name="Shape 22"/>
          <p:cNvSpPr/>
          <p:nvPr/>
        </p:nvSpPr>
        <p:spPr>
          <a:xfrm>
            <a:off x="6949440" y="2011680"/>
            <a:ext cx="2011680" cy="822960"/>
          </a:xfrm>
          <a:prstGeom prst="rect">
            <a:avLst/>
          </a:prstGeom>
          <a:solidFill>
            <a:srgbClr val="F5F5F5"/>
          </a:solidFill>
          <a:ln/>
        </p:spPr>
      </p:sp>
      <p:pic>
        <p:nvPicPr>
          <p:cNvPr id="3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86600" y="2194560"/>
            <a:ext cx="365760" cy="36576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7543800" y="214884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3E50"/>
                </a:solidFill>
              </a:rPr>
              <a:t>Operations</a:t>
            </a:r>
            <a:endParaRPr lang="en-US" sz="1400" dirty="0"/>
          </a:p>
        </p:txBody>
      </p:sp>
      <p:sp>
        <p:nvSpPr>
          <p:cNvPr id="34" name="Text 24"/>
          <p:cNvSpPr/>
          <p:nvPr/>
        </p:nvSpPr>
        <p:spPr>
          <a:xfrm>
            <a:off x="7543800" y="2450592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28090"/>
                </a:solidFill>
              </a:rPr>
              <a:t>12 NFRs</a:t>
            </a:r>
            <a:endParaRPr lang="en-US" sz="1200" dirty="0"/>
          </a:p>
        </p:txBody>
      </p:sp>
      <p:sp>
        <p:nvSpPr>
          <p:cNvPr id="35" name="Shape 25"/>
          <p:cNvSpPr/>
          <p:nvPr/>
        </p:nvSpPr>
        <p:spPr>
          <a:xfrm>
            <a:off x="640080" y="2926080"/>
            <a:ext cx="2011680" cy="822960"/>
          </a:xfrm>
          <a:prstGeom prst="rect">
            <a:avLst/>
          </a:prstGeom>
          <a:solidFill>
            <a:srgbClr val="F5F5F5"/>
          </a:solidFill>
          <a:ln/>
        </p:spPr>
      </p:sp>
      <p:pic>
        <p:nvPicPr>
          <p:cNvPr id="36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77240" y="3108960"/>
            <a:ext cx="365760" cy="365760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1234440" y="306324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3E50"/>
                </a:solidFill>
              </a:rPr>
              <a:t>DR &amp; BC</a:t>
            </a:r>
            <a:endParaRPr lang="en-US" sz="1400" dirty="0"/>
          </a:p>
        </p:txBody>
      </p:sp>
      <p:sp>
        <p:nvSpPr>
          <p:cNvPr id="38" name="Text 27"/>
          <p:cNvSpPr/>
          <p:nvPr/>
        </p:nvSpPr>
        <p:spPr>
          <a:xfrm>
            <a:off x="1234440" y="3364992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28090"/>
                </a:solidFill>
              </a:rPr>
              <a:t>10 NFRs</a:t>
            </a:r>
            <a:endParaRPr lang="en-US" sz="1200" dirty="0"/>
          </a:p>
        </p:txBody>
      </p:sp>
      <p:sp>
        <p:nvSpPr>
          <p:cNvPr id="39" name="Shape 28"/>
          <p:cNvSpPr/>
          <p:nvPr/>
        </p:nvSpPr>
        <p:spPr>
          <a:xfrm>
            <a:off x="2743200" y="2926080"/>
            <a:ext cx="2011680" cy="822960"/>
          </a:xfrm>
          <a:prstGeom prst="rect">
            <a:avLst/>
          </a:prstGeom>
          <a:solidFill>
            <a:srgbClr val="F5F5F5"/>
          </a:solidFill>
          <a:ln/>
        </p:spPr>
      </p:sp>
      <p:pic>
        <p:nvPicPr>
          <p:cNvPr id="40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880360" y="3108960"/>
            <a:ext cx="365760" cy="365760"/>
          </a:xfrm>
          <a:prstGeom prst="rect">
            <a:avLst/>
          </a:prstGeom>
        </p:spPr>
      </p:pic>
      <p:sp>
        <p:nvSpPr>
          <p:cNvPr id="41" name="Text 29"/>
          <p:cNvSpPr/>
          <p:nvPr/>
        </p:nvSpPr>
        <p:spPr>
          <a:xfrm>
            <a:off x="3337560" y="306324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3E50"/>
                </a:solidFill>
              </a:rPr>
              <a:t>Cost Mgmt</a:t>
            </a:r>
            <a:endParaRPr lang="en-US" sz="1400" dirty="0"/>
          </a:p>
        </p:txBody>
      </p:sp>
      <p:sp>
        <p:nvSpPr>
          <p:cNvPr id="42" name="Text 30"/>
          <p:cNvSpPr/>
          <p:nvPr/>
        </p:nvSpPr>
        <p:spPr>
          <a:xfrm>
            <a:off x="3337560" y="3364992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28090"/>
                </a:solidFill>
              </a:rPr>
              <a:t>8 NFRs</a:t>
            </a:r>
            <a:endParaRPr lang="en-US" sz="1200" dirty="0"/>
          </a:p>
        </p:txBody>
      </p:sp>
      <p:sp>
        <p:nvSpPr>
          <p:cNvPr id="43" name="Shape 31"/>
          <p:cNvSpPr/>
          <p:nvPr/>
        </p:nvSpPr>
        <p:spPr>
          <a:xfrm>
            <a:off x="4846320" y="2926080"/>
            <a:ext cx="2011680" cy="822960"/>
          </a:xfrm>
          <a:prstGeom prst="rect">
            <a:avLst/>
          </a:prstGeom>
          <a:solidFill>
            <a:srgbClr val="F5F5F5"/>
          </a:solidFill>
          <a:ln/>
        </p:spPr>
      </p:sp>
      <p:pic>
        <p:nvPicPr>
          <p:cNvPr id="44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983480" y="3108960"/>
            <a:ext cx="365760" cy="365760"/>
          </a:xfrm>
          <a:prstGeom prst="rect">
            <a:avLst/>
          </a:prstGeom>
        </p:spPr>
      </p:pic>
      <p:sp>
        <p:nvSpPr>
          <p:cNvPr id="45" name="Text 32"/>
          <p:cNvSpPr/>
          <p:nvPr/>
        </p:nvSpPr>
        <p:spPr>
          <a:xfrm>
            <a:off x="5440680" y="306324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3E50"/>
                </a:solidFill>
              </a:rPr>
              <a:t>User Experience</a:t>
            </a:r>
            <a:endParaRPr lang="en-US" sz="1400" dirty="0"/>
          </a:p>
        </p:txBody>
      </p:sp>
      <p:sp>
        <p:nvSpPr>
          <p:cNvPr id="46" name="Text 33"/>
          <p:cNvSpPr/>
          <p:nvPr/>
        </p:nvSpPr>
        <p:spPr>
          <a:xfrm>
            <a:off x="5440680" y="3364992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28090"/>
                </a:solidFill>
              </a:rPr>
              <a:t>8 NFRs</a:t>
            </a:r>
            <a:endParaRPr lang="en-US" sz="1200" dirty="0"/>
          </a:p>
        </p:txBody>
      </p:sp>
      <p:sp>
        <p:nvSpPr>
          <p:cNvPr id="47" name="Shape 34"/>
          <p:cNvSpPr/>
          <p:nvPr/>
        </p:nvSpPr>
        <p:spPr>
          <a:xfrm>
            <a:off x="6949440" y="2926080"/>
            <a:ext cx="2011680" cy="822960"/>
          </a:xfrm>
          <a:prstGeom prst="rect">
            <a:avLst/>
          </a:prstGeom>
          <a:solidFill>
            <a:srgbClr val="F5F5F5"/>
          </a:solidFill>
          <a:ln/>
        </p:spPr>
      </p:sp>
      <p:pic>
        <p:nvPicPr>
          <p:cNvPr id="48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086600" y="3108960"/>
            <a:ext cx="365760" cy="365760"/>
          </a:xfrm>
          <a:prstGeom prst="rect">
            <a:avLst/>
          </a:prstGeom>
        </p:spPr>
      </p:pic>
      <p:sp>
        <p:nvSpPr>
          <p:cNvPr id="49" name="Text 35"/>
          <p:cNvSpPr/>
          <p:nvPr/>
        </p:nvSpPr>
        <p:spPr>
          <a:xfrm>
            <a:off x="7543800" y="306324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3E50"/>
                </a:solidFill>
              </a:rPr>
              <a:t>Compliance</a:t>
            </a:r>
            <a:endParaRPr lang="en-US" sz="1400" dirty="0"/>
          </a:p>
        </p:txBody>
      </p:sp>
      <p:sp>
        <p:nvSpPr>
          <p:cNvPr id="50" name="Text 36"/>
          <p:cNvSpPr/>
          <p:nvPr/>
        </p:nvSpPr>
        <p:spPr>
          <a:xfrm>
            <a:off x="7543800" y="3364992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28090"/>
                </a:solidFill>
              </a:rPr>
              <a:t>11 NFRs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4E78"/>
                </a:solidFill>
              </a:rPr>
              <a:t>NFR Prefix Category Matrix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2C3E50"/>
                </a:solidFill>
              </a:rPr>
              <a:t>Understanding NFR Identification System</a:t>
            </a:r>
            <a:endParaRPr lang="en-US" sz="16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3474720"/>
        </p:xfrm>
        <a:graphic>
          <a:graphicData uri="http://schemas.openxmlformats.org/drawingml/2006/table">
            <a:tbl>
              <a:tblPr/>
              <a:tblGrid>
                <a:gridCol w="731520"/>
                <a:gridCol w="2011680"/>
                <a:gridCol w="1097280"/>
                <a:gridCol w="4389120"/>
              </a:tblGrid>
              <a:tr h="26728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Prefix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Category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Example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Description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8"/>
                    </a:solidFill>
                  </a:tcPr>
                </a:tc>
              </a:tr>
              <a:tr h="26728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PR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Performance &amp; Scalability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PR-001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Response times, throughput, scalability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728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RA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Reliability &amp; Availability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RA-001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Uptime, fault tolerance, data consistency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728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SE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Security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SE-001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Authentication, encryption, audit trails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728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MR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Model Resilience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MR-001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Multi-model strategy, failover, routing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728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IN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Integration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IN-001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API standards, enterprise connectivity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728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OB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Observability (Arize)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OB-001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Metrics, tracing, monitoring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728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GR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Guardrails (Model Armor)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GR-001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Input/output safety, constraints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728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OP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Operations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OP-001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Deployment, configuration, docs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728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DR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Disaster Recovery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DR-001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Backup, recovery, business continuity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728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CM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Cost Management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CM-001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Budget controls, resource efficiency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728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UX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User Experience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UX-001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Transparency, error handling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728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CG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Compliance &amp; Governance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CG-001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Regulatory compliance, ethical AI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28090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7432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320040"/>
            <a:ext cx="7589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4E78"/>
                </a:solidFill>
              </a:rPr>
              <a:t>Performance &amp; Scalability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457200" y="10972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</a:rPr>
              <a:t>Response Time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731520" y="1417320"/>
            <a:ext cx="7955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</a:rPr>
              <a:t>PR-001: Agent response ≤ 2s for simple queries (p95)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</a:rPr>
              <a:t>PR-002: ≤ 10s for complex workflows (p95)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</a:rPr>
              <a:t>PR-003: API latency ≤ 500ms (p95)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457200" y="2103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</a:rPr>
              <a:t>Throughput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31520" y="2423160"/>
            <a:ext cx="7955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</a:rPr>
              <a:t>PR-005: Handle 10,000+ invocations/hour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</a:rPr>
              <a:t>PR-006: Support 100+ concurrent agents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</a:rPr>
              <a:t>PR-007: Process 50+ background jobs/worker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57200" y="3108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</a:rPr>
              <a:t>Scalability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731520" y="3429000"/>
            <a:ext cx="7955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</a:rPr>
              <a:t>PR-008: Auto-scale at 70% capacity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</a:rPr>
              <a:t>PR-009: Handle 3x burst traffic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</a:rPr>
              <a:t>PR-010: Zero-downtime scaling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A896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7432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320040"/>
            <a:ext cx="7589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4E78"/>
                </a:solidFill>
              </a:rPr>
              <a:t>Reliability &amp; Availability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457200" y="10972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A896"/>
                </a:solidFill>
              </a:rPr>
              <a:t>Uptime &amp; SLA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731520" y="1417320"/>
            <a:ext cx="7955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</a:rPr>
              <a:t>RA-001: 99.9% uptime for critical workflows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</a:rPr>
              <a:t>RA-002: 99.5% uptime for background agents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</a:rPr>
              <a:t>RA-003: Maintenance ≤ 4 hours/quarter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457200" y="2103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A896"/>
                </a:solidFill>
              </a:rPr>
              <a:t>Fault Tolerance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31520" y="2423160"/>
            <a:ext cx="7955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</a:rPr>
              <a:t>RA-004: Circuit breaker at 25% error rate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</a:rPr>
              <a:t>RA-005: Auto-retry with exponential backoff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</a:rPr>
              <a:t>RA-006: Dead letter queue for failed tasks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57200" y="3108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A896"/>
                </a:solidFill>
              </a:rPr>
              <a:t>Data Consistency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731520" y="3429000"/>
            <a:ext cx="7955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</a:rPr>
              <a:t>RA-008: Idempotent operations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</a:rPr>
              <a:t>RA-009: Transaction rollback capability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</a:rPr>
              <a:t>RA-010: 99% consistency within 5 seconds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2C39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7432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320040"/>
            <a:ext cx="7589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4E78"/>
                </a:solidFill>
              </a:rPr>
              <a:t>Security (Complementing Model Armor)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457200" y="10972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C39A"/>
                </a:solidFill>
              </a:rPr>
              <a:t>Authentication &amp; Authorization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731520" y="1417320"/>
            <a:ext cx="7955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</a:rPr>
              <a:t>SE-001: OAuth 2.0/SAML with enterprise SSO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</a:rPr>
              <a:t>SE-002: API key rotation every 90 days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</a:rPr>
              <a:t>SE-003: RBAC with 5+ role levels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</a:rPr>
              <a:t>SE-004: MFA for admin operations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457200" y="23317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C39A"/>
                </a:solidFill>
              </a:rPr>
              <a:t>Data Protection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31520" y="2651760"/>
            <a:ext cx="7955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</a:rPr>
              <a:t>SE-006: TLS 1.3+ for data in transit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</a:rPr>
              <a:t>SE-007: AES-256 encryption at rest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</a:rPr>
              <a:t>SE-008: CMK for PII/PHI data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</a:rPr>
              <a:t>SE-009: Auto-redact sensitive data in logs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28090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7432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320040"/>
            <a:ext cx="7589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4E78"/>
                </a:solidFill>
              </a:rPr>
              <a:t>Model Resilience &amp; Failover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914400" y="1097280"/>
            <a:ext cx="3474720" cy="7315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6" name="Text 3"/>
          <p:cNvSpPr/>
          <p:nvPr/>
        </p:nvSpPr>
        <p:spPr>
          <a:xfrm>
            <a:off x="914400" y="128016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Primary: Claude Sonnet 4.5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4754880" y="1097280"/>
            <a:ext cx="1645920" cy="73152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8" name="Text 5"/>
          <p:cNvSpPr/>
          <p:nvPr/>
        </p:nvSpPr>
        <p:spPr>
          <a:xfrm>
            <a:off x="4754880" y="123444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Tier 1: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Haiku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583680" y="1097280"/>
            <a:ext cx="1645920" cy="73152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0" name="Text 7"/>
          <p:cNvSpPr/>
          <p:nvPr/>
        </p:nvSpPr>
        <p:spPr>
          <a:xfrm>
            <a:off x="6583680" y="123444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Tier 2: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Opus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731520" y="2103120"/>
            <a:ext cx="795528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</a:rPr>
              <a:t>MR-001: Primary + 2 fallback tiers configured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</a:rPr>
              <a:t>MR-002: Automatic failover within 5 seconds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</a:rPr>
              <a:t>MR-003: Health checks every 60 seconds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</a:rPr>
              <a:t>MR-004: Failover triggers: latency &gt;10s, error &gt;15%, 3x 5xx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</a:rPr>
              <a:t>MR-005: Complexity-based routing (Haiku/Sonnet/Opus)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</a:rPr>
              <a:t>MR-011: Git-based prompt version control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</a:rPr>
              <a:t>MR-014: One-click rollback (RTO: 5 min)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A896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7432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320040"/>
            <a:ext cx="7589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4E78"/>
                </a:solidFill>
              </a:rPr>
              <a:t>Observability Integration (Arize)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457200" y="10972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A896"/>
                </a:solidFill>
              </a:rPr>
              <a:t>Metrics Export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731520" y="1389888"/>
            <a:ext cx="7955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</a:rPr>
              <a:t>OB-001: Real-time streaming to Arize (&lt; 30s delay)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</a:rPr>
              <a:t>OB-002: Track per-agent: latency, tokens, success, feedback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</a:rPr>
              <a:t>OB-003: Model performance dashboard (daily refresh)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</a:rPr>
              <a:t>OB-004: Cost tracking per agent/dept/model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457200" y="24414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A896"/>
                </a:solidFill>
              </a:rPr>
              <a:t>Distributed Tracing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31520" y="2734056"/>
            <a:ext cx="7955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</a:rPr>
              <a:t>OB-005: End-to-end tracing with correlation IDs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</a:rPr>
              <a:t>OB-006: OpenTelemetry format integration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</a:rPr>
              <a:t>OB-007: 30-day trace retention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57200" y="35570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A896"/>
                </a:solidFill>
              </a:rPr>
              <a:t>Alerting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731520" y="3849624"/>
            <a:ext cx="7955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</a:rPr>
              <a:t>OB-008: Monitors for error &gt;20%, latency &gt;10s, cost &gt;150%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</a:rPr>
              <a:t>OB-009: Slack/PagerDuty integration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</a:rPr>
              <a:t>OB-010: Anomaly detection for drift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2C39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7432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320040"/>
            <a:ext cx="7589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4E78"/>
                </a:solidFill>
              </a:rPr>
              <a:t>Guardrails Integration (Model Armor)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457200" y="10972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C39A"/>
                </a:solidFill>
              </a:rPr>
              <a:t>Input Guardrails (Pre-LLM)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731520" y="1389888"/>
            <a:ext cx="79552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</a:rPr>
              <a:t>GR-001: Route all inputs through Model Armor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</a:rPr>
              <a:t>GR-002: Block: violence, hate, illegal, prompt injection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</a:rPr>
              <a:t>GR-003: Flag sensitive topics for human review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</a:rPr>
              <a:t>GR-004: Validate permissions and business rules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457200" y="23317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C39A"/>
                </a:solidFill>
              </a:rPr>
              <a:t>Output Guardrails (Post-LLM)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31520" y="2624328"/>
            <a:ext cx="79552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</a:rPr>
              <a:t>GR-005: Route all outputs through Model Armor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</a:rPr>
              <a:t>GR-006: Detect and redact PII/PHI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</a:rPr>
              <a:t>GR-007: Toxicity detection (&gt;0.7 threshold)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</a:rPr>
              <a:t>GR-008: Hallucination detection for factual claims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57200" y="3566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C39A"/>
                </a:solidFill>
              </a:rPr>
              <a:t>Performance &amp; Constraints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731520" y="3858768"/>
            <a:ext cx="79552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</a:rPr>
              <a:t>GR-009: Guardrail latency ≤ 200ms (p95)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</a:rPr>
              <a:t>GR-010: False positive rate ≤ 2%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</a:rPr>
              <a:t>GR-013: Transaction limits: $10K/action, $100K/day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4E78"/>
                </a:solidFill>
              </a:rPr>
              <a:t>Priority Matrix</a:t>
            </a:r>
            <a:endParaRPr lang="en-US" sz="36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14400"/>
          <a:ext cx="8229600" cy="3657600"/>
        </p:xfrm>
        <a:graphic>
          <a:graphicData uri="http://schemas.openxmlformats.org/drawingml/2006/table">
            <a:tbl>
              <a:tblPr/>
              <a:tblGrid>
                <a:gridCol w="1371600"/>
                <a:gridCol w="2926080"/>
                <a:gridCol w="3931920"/>
              </a:tblGrid>
              <a:tr h="7315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Priority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NFR IDs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Rationale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8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P0 (Critical)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SE-001 to SE-009, RA-001, MR-001 to MR-004, GR-001 to GR-008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Security, reliability, and safety guardrails are foundational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P1 (High)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9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PR-001 to PR-010, OB-001 to OB-010, DR-001 to DR-003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Performance and observability enable production readiness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P2 (Medium)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IN-001 to IN-012, OP-001 to OP-012, CM-001 to CM-004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Integration and operations support scale and maintainability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P3 (Low)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C2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UX-001 to UX-008, CG-009 to CG-011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User experience and ethical AI are iterative improvements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4E7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Key Takeaways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1097280" y="1645920"/>
            <a:ext cx="694944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</a:rPr>
              <a:t>115 NFRs organized into 12 categories with clear IDs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</a:rPr>
              <a:t>Designed to complement existing Arize &amp; Model Armor infrastructure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</a:rPr>
              <a:t>Priority-based implementation: P0 (Critical) → P1 (High) → P2/P3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</a:rPr>
              <a:t>Focus on security, performance, and model resilience first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</a:rPr>
              <a:t>Measurable metrics and acceptance criteria for each NFR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</a:rPr>
              <a:t>Complete traceability from requirements to implementation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4E78"/>
                </a:solidFill>
              </a:rPr>
              <a:t>Next Steps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914400" y="1097280"/>
            <a:ext cx="365760" cy="36576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1430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463040" y="1143000"/>
            <a:ext cx="6766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</a:rPr>
              <a:t>Review and approve NFRs with stakeholders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914400" y="1645920"/>
            <a:ext cx="365760" cy="36576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6916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463040" y="1691640"/>
            <a:ext cx="6766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</a:rPr>
              <a:t>Create implementation checklists for each priority tier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914400" y="2194560"/>
            <a:ext cx="365760" cy="36576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22402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463040" y="2240280"/>
            <a:ext cx="6766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</a:rPr>
              <a:t>Map NFRs to user stories in project management system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914400" y="2743200"/>
            <a:ext cx="365760" cy="36576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27889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463040" y="2788920"/>
            <a:ext cx="6766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</a:rPr>
              <a:t>Develop test plans and acceptance criteria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914400" y="3291840"/>
            <a:ext cx="365760" cy="36576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33375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5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463040" y="3337560"/>
            <a:ext cx="6766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</a:rPr>
              <a:t>Schedule architecture review sessions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914400" y="3840480"/>
            <a:ext cx="365760" cy="36576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9" name="Text 17"/>
          <p:cNvSpPr/>
          <p:nvPr/>
        </p:nvSpPr>
        <p:spPr>
          <a:xfrm>
            <a:off x="914400" y="38862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6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463040" y="3886200"/>
            <a:ext cx="6766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</a:rPr>
              <a:t>Begin P0 (Critical) implementation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2C3E50"/>
                </a:solidFill>
              </a:rPr>
              <a:t>Questions? Contact: BRIJ - TechByte Media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Non-Functional Requirements - Pegasus Agent System</dc:title>
  <dc:subject>PptxGenJS Presentation</dc:subject>
  <dc:creator>BRIJ - TechByte Media</dc:creator>
  <cp:lastModifiedBy>BRIJ - TechByte Media</cp:lastModifiedBy>
  <cp:revision>1</cp:revision>
  <dcterms:created xsi:type="dcterms:W3CDTF">2026-02-03T16:29:54Z</dcterms:created>
  <dcterms:modified xsi:type="dcterms:W3CDTF">2026-02-03T16:29:54Z</dcterms:modified>
</cp:coreProperties>
</file>